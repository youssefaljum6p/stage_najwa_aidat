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PT Sans Narrow"/>
      <p:regular r:id="rId29"/>
      <p:bold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5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56717F-2048-4CC8-AFD0-D40D0D069EFA}">
  <a:tblStyle styleId="{C756717F-2048-4CC8-AFD0-D40D0D069EF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5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TSansNarrow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regular.fntdata"/><Relationship Id="rId30" Type="http://schemas.openxmlformats.org/officeDocument/2006/relationships/font" Target="fonts/PTSansNarrow-bold.fntdata"/><Relationship Id="rId11" Type="http://schemas.openxmlformats.org/officeDocument/2006/relationships/slide" Target="slides/slide5.xml"/><Relationship Id="rId33" Type="http://schemas.openxmlformats.org/officeDocument/2006/relationships/font" Target="fonts/OpenSans-italic.fntdata"/><Relationship Id="rId10" Type="http://schemas.openxmlformats.org/officeDocument/2006/relationships/slide" Target="slides/slide4.xml"/><Relationship Id="rId32" Type="http://schemas.openxmlformats.org/officeDocument/2006/relationships/font" Target="fonts/Open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8066fef5b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8066fef5b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a5d6b071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a5d6b071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8a6dfa71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8a6dfa71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8a178fdb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8a178fdb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8a178fdb1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8a178fdb1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c6894efda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c6894efd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b41b36b6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b41b36b6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b41b36b6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b41b36b6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8a178fdb1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8a178fdb1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917e25a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917e25a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917e25ab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d917e25ab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b41b36b62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fb41b36b62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a15659ac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fa15659ac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a15659ac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fa15659ac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b41b36b62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fb41b36b62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b41b36b62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fb41b36b62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b41b36b62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fb41b36b62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b41b36b62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fb41b36b62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b41b36b62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fb41b36b62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b41b36b62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fb41b36b62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b41b36b62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fb41b36b62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c6894efda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2c6894efda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13.png"/><Relationship Id="rId7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Relationship Id="rId4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arxiv.org/abs/1609.05143" TargetMode="External"/><Relationship Id="rId4" Type="http://schemas.openxmlformats.org/officeDocument/2006/relationships/hyperlink" Target="https://dl.acm.org/doi/10.1145/3592433" TargetMode="External"/><Relationship Id="rId5" Type="http://schemas.openxmlformats.org/officeDocument/2006/relationships/hyperlink" Target="http://arxiv.org/abs/1707.06347" TargetMode="External"/><Relationship Id="rId6" Type="http://schemas.openxmlformats.org/officeDocument/2006/relationships/hyperlink" Target="http://cs.l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337975" y="1966875"/>
            <a:ext cx="6646200" cy="16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Apprentissage par renforcement pour la navigation visuelle</a:t>
            </a:r>
            <a:endParaRPr/>
          </a:p>
        </p:txBody>
      </p:sp>
      <p:sp>
        <p:nvSpPr>
          <p:cNvPr id="67" name="Google Shape;67;p13"/>
          <p:cNvSpPr txBox="1"/>
          <p:nvPr/>
        </p:nvSpPr>
        <p:spPr>
          <a:xfrm>
            <a:off x="5694625" y="4304750"/>
            <a:ext cx="247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Najwa AIDAT - Le 15 septembre 2026</a:t>
            </a:r>
            <a:endParaRPr sz="1300">
              <a:solidFill>
                <a:schemeClr val="dk2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              Avril - Août 2026</a:t>
            </a:r>
            <a:endParaRPr sz="1300">
              <a:solidFill>
                <a:schemeClr val="dk2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476525" y="4304750"/>
            <a:ext cx="2153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Tuteur entreprise : Youssef ALJ   Tuteur école : Said MOUSSAOUI</a:t>
            </a:r>
            <a:endParaRPr sz="1300">
              <a:solidFill>
                <a:schemeClr val="dk2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/>
          <p:nvPr/>
        </p:nvSpPr>
        <p:spPr>
          <a:xfrm>
            <a:off x="0" y="0"/>
            <a:ext cx="9144000" cy="105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DD741B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    Plan</a:t>
            </a:r>
            <a:endParaRPr b="1" sz="2600">
              <a:solidFill>
                <a:srgbClr val="DD741B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422100" y="1433375"/>
            <a:ext cx="495000" cy="430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422100" y="1952150"/>
            <a:ext cx="495000" cy="430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422100" y="2470925"/>
            <a:ext cx="495000" cy="430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22100" y="2989700"/>
            <a:ext cx="495000" cy="430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422100" y="3508475"/>
            <a:ext cx="495000" cy="430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422100" y="4027250"/>
            <a:ext cx="495000" cy="430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1070650" y="1433375"/>
            <a:ext cx="7341900" cy="430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Contexte et 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problématique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1070650" y="4027250"/>
            <a:ext cx="7341900" cy="430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Approche de navigation continue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1070650" y="3508475"/>
            <a:ext cx="7341900" cy="430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Construction du graphe 3DGS et entraînement sur room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1070650" y="2989700"/>
            <a:ext cx="7341900" cy="430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Reproduction du pipeline de navigation visuelle (AI2-THOR)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1070650" y="2470925"/>
            <a:ext cx="7341900" cy="430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Reconstruction de la scène avec 3DGS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1070650" y="1952150"/>
            <a:ext cx="7341900" cy="430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RL et 3DGS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427054" y="4546034"/>
            <a:ext cx="495000" cy="430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1070653" y="4546034"/>
            <a:ext cx="7341900" cy="430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Conclusion et perspectives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Contexte et problématique</a:t>
            </a:r>
            <a:endParaRPr/>
          </a:p>
        </p:txBody>
      </p:sp>
      <p:sp>
        <p:nvSpPr>
          <p:cNvPr id="94" name="Google Shape;94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Question : Peut-on remplacer un simulateur synthétique coûteux par une reconstruction 3DGS d'une scène réelle ?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469950" y="1785000"/>
            <a:ext cx="3884700" cy="2610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→</a:t>
            </a: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 Agents entraînés en simulation peinent dans les scènes réelles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→ Simulateurs classiques (AI2-THOR) : synthétiques écart visuel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→ Pipeline coûteux à mettre en place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4773799" y="1785000"/>
            <a:ext cx="3884700" cy="2610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→ Fonctionne bien mais calcul de la matrice d'interaction coûteux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→ Bassin d'attraction limité (pose initiale proche requise)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→ Sensible aux changements d'illumination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4769889" y="1784996"/>
            <a:ext cx="3884700" cy="4542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Problème 2 : Asservissement visuel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471588" y="1794303"/>
            <a:ext cx="3884700" cy="4542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Problème 1 : Sim to real gap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Reinforcement</a:t>
            </a:r>
            <a:r>
              <a:rPr lang="en"/>
              <a:t> Learning</a:t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439300" y="1550925"/>
            <a:ext cx="1474200" cy="4926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Agent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5129225" y="2676050"/>
            <a:ext cx="1560900" cy="4926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Récompense “r”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2764225" y="2676050"/>
            <a:ext cx="1474200" cy="4926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État “s”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3439057" y="1419675"/>
            <a:ext cx="2265900" cy="755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Environnement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6909200" y="3546920"/>
            <a:ext cx="1560900" cy="559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Q(s,a)</a:t>
            </a:r>
            <a:endParaRPr b="1" sz="10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Valeur action-état (Q-function)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6909200" y="2773168"/>
            <a:ext cx="1560900" cy="559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Valeur V(s)</a:t>
            </a:r>
            <a:endParaRPr b="1" sz="10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Récompense future espérée depuis s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6909200" y="2072343"/>
            <a:ext cx="1560900" cy="559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Récompense R</a:t>
            </a:r>
            <a:endParaRPr b="1" sz="10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Signal de retour de l'environnement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6909200" y="1371443"/>
            <a:ext cx="1560900" cy="559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Politique π</a:t>
            </a:r>
            <a:endParaRPr b="1" sz="10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Fonction qui mappe états → actions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439300" y="3876750"/>
            <a:ext cx="5241900" cy="49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-"/>
            </a:pPr>
            <a:r>
              <a:rPr b="1" lang="en" sz="1000" u="sng">
                <a:latin typeface="Open Sans"/>
                <a:ea typeface="Open Sans"/>
                <a:cs typeface="Open Sans"/>
                <a:sym typeface="Open Sans"/>
              </a:rPr>
              <a:t>Objectif :</a:t>
            </a: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 Maximiser la récompenses cumulée </a:t>
            </a:r>
            <a:r>
              <a:rPr b="1" lang="en" sz="1000">
                <a:latin typeface="Open Sans"/>
                <a:ea typeface="Open Sans"/>
                <a:cs typeface="Open Sans"/>
                <a:sym typeface="Open Sans"/>
              </a:rPr>
              <a:t>Σ γᵗ · rₜ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375950" y="1068900"/>
            <a:ext cx="2475000" cy="15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-"/>
            </a:pPr>
            <a:r>
              <a:rPr b="1" lang="en" u="sng">
                <a:latin typeface="Open Sans"/>
                <a:ea typeface="Open Sans"/>
                <a:cs typeface="Open Sans"/>
                <a:sym typeface="Open Sans"/>
              </a:rPr>
              <a:t>Principe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15" name="Google Shape;115;p16"/>
          <p:cNvCxnSpPr>
            <a:stCxn id="105" idx="3"/>
            <a:endCxn id="108" idx="1"/>
          </p:cNvCxnSpPr>
          <p:nvPr/>
        </p:nvCxnSpPr>
        <p:spPr>
          <a:xfrm>
            <a:off x="1913500" y="1797225"/>
            <a:ext cx="1525500" cy="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" name="Google Shape;116;p16"/>
          <p:cNvSpPr txBox="1"/>
          <p:nvPr/>
        </p:nvSpPr>
        <p:spPr>
          <a:xfrm>
            <a:off x="1913500" y="1466700"/>
            <a:ext cx="152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</a:rPr>
              <a:t>Action “a”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 problèmes connus du RL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2608200" y="4168825"/>
            <a:ext cx="622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448650" y="1073425"/>
            <a:ext cx="592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-"/>
            </a:pPr>
            <a:r>
              <a:rPr b="1" lang="en" u="sng">
                <a:latin typeface="Open Sans"/>
                <a:ea typeface="Open Sans"/>
                <a:cs typeface="Open Sans"/>
                <a:sym typeface="Open Sans"/>
              </a:rPr>
              <a:t>Ce dont on parle rarement, mais qui bloque en pratique :</a:t>
            </a:r>
            <a:endParaRPr b="1" u="sng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25" name="Google Shape;125;p17"/>
          <p:cNvGraphicFramePr/>
          <p:nvPr/>
        </p:nvGraphicFramePr>
        <p:xfrm>
          <a:off x="448650" y="1977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{C756717F-2048-4CC8-AFD0-D40D0D069EFA}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99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Problème</a:t>
                      </a:r>
                      <a:endParaRPr b="1" sz="1300">
                        <a:solidFill>
                          <a:srgbClr val="99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99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Explication</a:t>
                      </a:r>
                      <a:endParaRPr b="1" sz="1300">
                        <a:solidFill>
                          <a:srgbClr val="99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99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Cas pratique</a:t>
                      </a:r>
                      <a:endParaRPr b="1" sz="1300">
                        <a:solidFill>
                          <a:srgbClr val="99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Manque de généralisation vers de nouvelles cibles.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Le modèle apprend très bien une tâche précise… mais échoue dès qu'on change d'environnement ou de cible.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</a:t>
                      </a:r>
                      <a:r>
                        <a:rPr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 agent entraîné à naviguer dans une maison A ne sait plus naviguer dans une maison B, même similaire.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Inefficacité des données : apprentissage lent et coûteux.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Le RL nécessite énormément d'interactions pour apprendre : millions de pas avant de converger.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r>
                        <a:rPr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haque interaction coûte du temps, de l'énergie, ou risque d'endommager du matériel. Sample inefficiency = coût prohibitif.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6" name="Google Shape;12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type="title"/>
          </p:nvPr>
        </p:nvSpPr>
        <p:spPr>
          <a:xfrm>
            <a:off x="311700" y="174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3D Gaussian Splatting</a:t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722600" y="917252"/>
            <a:ext cx="1567800" cy="5280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Open Sans"/>
                <a:ea typeface="Open Sans"/>
                <a:cs typeface="Open Sans"/>
                <a:sym typeface="Open Sans"/>
              </a:rPr>
              <a:t>Photo 2D</a:t>
            </a:r>
            <a:endParaRPr b="1" sz="1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Open Sans"/>
                <a:ea typeface="Open Sans"/>
                <a:cs typeface="Open Sans"/>
                <a:sym typeface="Open Sans"/>
              </a:rPr>
              <a:t>N poses &amp; poses caméra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722600" y="1776354"/>
            <a:ext cx="1567800" cy="5280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Open Sans"/>
                <a:ea typeface="Open Sans"/>
                <a:cs typeface="Open Sans"/>
                <a:sym typeface="Open Sans"/>
              </a:rPr>
              <a:t>SFM</a:t>
            </a:r>
            <a:endParaRPr b="1" sz="1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Open Sans"/>
                <a:ea typeface="Open Sans"/>
                <a:cs typeface="Open Sans"/>
                <a:sym typeface="Open Sans"/>
              </a:rPr>
              <a:t>Nuage de point sparse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3091236" y="2643463"/>
            <a:ext cx="1567800" cy="528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Open Sans"/>
                <a:ea typeface="Open Sans"/>
                <a:cs typeface="Open Sans"/>
                <a:sym typeface="Open Sans"/>
              </a:rPr>
              <a:t>Rendu 2D</a:t>
            </a:r>
            <a:endParaRPr b="1" sz="1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Open Sans"/>
                <a:ea typeface="Open Sans"/>
                <a:cs typeface="Open Sans"/>
                <a:sym typeface="Open Sans"/>
              </a:rPr>
              <a:t>Projection Splatting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722600" y="2643469"/>
            <a:ext cx="1567800" cy="5280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Open Sans"/>
                <a:ea typeface="Open Sans"/>
                <a:cs typeface="Open Sans"/>
                <a:sym typeface="Open Sans"/>
              </a:rPr>
              <a:t>Gaussienne 3D</a:t>
            </a:r>
            <a:endParaRPr b="1" sz="1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Open Sans"/>
                <a:ea typeface="Open Sans"/>
                <a:cs typeface="Open Sans"/>
                <a:sym typeface="Open Sans"/>
              </a:rPr>
              <a:t>μ, Σ, α, couleur (SH)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6363286" y="2643487"/>
            <a:ext cx="1567800" cy="528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Open Sans"/>
                <a:ea typeface="Open Sans"/>
                <a:cs typeface="Open Sans"/>
                <a:sym typeface="Open Sans"/>
              </a:rPr>
              <a:t>Comparaison</a:t>
            </a:r>
            <a:endParaRPr b="1" sz="1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Open Sans"/>
                <a:ea typeface="Open Sans"/>
                <a:cs typeface="Open Sans"/>
                <a:sym typeface="Open Sans"/>
              </a:rPr>
              <a:t>Image synth. vs vraie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4859836" y="3550663"/>
            <a:ext cx="1567800" cy="5280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Open Sans"/>
                <a:ea typeface="Open Sans"/>
                <a:cs typeface="Open Sans"/>
                <a:sym typeface="Open Sans"/>
              </a:rPr>
              <a:t>Correction</a:t>
            </a:r>
            <a:endParaRPr b="1" sz="1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Open Sans"/>
                <a:ea typeface="Open Sans"/>
                <a:cs typeface="Open Sans"/>
                <a:sym typeface="Open Sans"/>
              </a:rPr>
              <a:t>Backprop → ajuste μ,Σ,α,c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6052120" y="4455100"/>
            <a:ext cx="1885800" cy="5280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Open Sans"/>
                <a:ea typeface="Open Sans"/>
                <a:cs typeface="Open Sans"/>
                <a:sym typeface="Open Sans"/>
              </a:rPr>
              <a:t>Scène 3D finale</a:t>
            </a:r>
            <a:endParaRPr b="1" sz="1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Open Sans"/>
                <a:ea typeface="Open Sans"/>
                <a:cs typeface="Open Sans"/>
                <a:sym typeface="Open Sans"/>
              </a:rPr>
              <a:t>Rendu temps réel ~100 FPS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9" name="Google Shape;139;p18"/>
          <p:cNvCxnSpPr>
            <a:stCxn id="132" idx="2"/>
            <a:endCxn id="133" idx="0"/>
          </p:cNvCxnSpPr>
          <p:nvPr/>
        </p:nvCxnSpPr>
        <p:spPr>
          <a:xfrm>
            <a:off x="1506500" y="1445252"/>
            <a:ext cx="0" cy="331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0" name="Google Shape;140;p18"/>
          <p:cNvCxnSpPr/>
          <p:nvPr/>
        </p:nvCxnSpPr>
        <p:spPr>
          <a:xfrm>
            <a:off x="1506915" y="2309583"/>
            <a:ext cx="0" cy="331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1" name="Google Shape;141;p18"/>
          <p:cNvCxnSpPr>
            <a:stCxn id="134" idx="3"/>
            <a:endCxn id="136" idx="1"/>
          </p:cNvCxnSpPr>
          <p:nvPr/>
        </p:nvCxnSpPr>
        <p:spPr>
          <a:xfrm>
            <a:off x="4659036" y="2907463"/>
            <a:ext cx="17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2" name="Google Shape;142;p18"/>
          <p:cNvCxnSpPr>
            <a:stCxn id="135" idx="3"/>
            <a:endCxn id="134" idx="1"/>
          </p:cNvCxnSpPr>
          <p:nvPr/>
        </p:nvCxnSpPr>
        <p:spPr>
          <a:xfrm>
            <a:off x="2290400" y="2907469"/>
            <a:ext cx="800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3" name="Google Shape;143;p18"/>
          <p:cNvCxnSpPr>
            <a:endCxn id="137" idx="3"/>
          </p:cNvCxnSpPr>
          <p:nvPr/>
        </p:nvCxnSpPr>
        <p:spPr>
          <a:xfrm rot="5400000">
            <a:off x="6306136" y="3286663"/>
            <a:ext cx="649500" cy="4065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4" name="Google Shape;144;p18"/>
          <p:cNvCxnSpPr>
            <a:endCxn id="135" idx="2"/>
          </p:cNvCxnSpPr>
          <p:nvPr/>
        </p:nvCxnSpPr>
        <p:spPr>
          <a:xfrm rot="10800000">
            <a:off x="1506500" y="3171469"/>
            <a:ext cx="3367800" cy="6495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45" name="Google Shape;145;p18"/>
          <p:cNvSpPr/>
          <p:nvPr/>
        </p:nvSpPr>
        <p:spPr>
          <a:xfrm>
            <a:off x="2818400" y="2277100"/>
            <a:ext cx="5415600" cy="19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46" name="Google Shape;146;p18"/>
          <p:cNvCxnSpPr>
            <a:endCxn id="138" idx="0"/>
          </p:cNvCxnSpPr>
          <p:nvPr/>
        </p:nvCxnSpPr>
        <p:spPr>
          <a:xfrm>
            <a:off x="6995020" y="4228900"/>
            <a:ext cx="0" cy="226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7" name="Google Shape;147;p18"/>
          <p:cNvSpPr txBox="1"/>
          <p:nvPr/>
        </p:nvSpPr>
        <p:spPr>
          <a:xfrm>
            <a:off x="4562231" y="2197116"/>
            <a:ext cx="18858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Boucle d’optimisation</a:t>
            </a:r>
            <a:endParaRPr b="1" sz="1100" u="sng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6978214" y="4171300"/>
            <a:ext cx="11118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Convergence</a:t>
            </a:r>
            <a:endParaRPr b="1" sz="9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1562550" y="3373000"/>
            <a:ext cx="111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latin typeface="Open Sans"/>
                <a:ea typeface="Open Sans"/>
                <a:cs typeface="Open Sans"/>
                <a:sym typeface="Open Sans"/>
              </a:rPr>
              <a:t>Mise à jour des </a:t>
            </a:r>
            <a:endParaRPr b="1" sz="9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latin typeface="Open Sans"/>
                <a:ea typeface="Open Sans"/>
                <a:cs typeface="Open Sans"/>
                <a:sym typeface="Open Sans"/>
              </a:rPr>
              <a:t>Gaussiennes</a:t>
            </a:r>
            <a:endParaRPr b="1" sz="9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0" name="Google Shape;15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9167" y="26779"/>
            <a:ext cx="2672000" cy="198379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5419325" y="1910588"/>
            <a:ext cx="34557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600">
                <a:latin typeface="Open Sans"/>
                <a:ea typeface="Open Sans"/>
                <a:cs typeface="Open Sans"/>
                <a:sym typeface="Open Sans"/>
              </a:rPr>
              <a:t>Source : Logessiva, Medium – "Understanding and Exploring 3D Gaussian Splatting" (2024)</a:t>
            </a:r>
            <a:endParaRPr i="1" sz="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>
            <p:ph type="title"/>
          </p:nvPr>
        </p:nvSpPr>
        <p:spPr>
          <a:xfrm>
            <a:off x="286950" y="935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Reconstruction de la scène avec 3DGS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9"/>
          <p:cNvSpPr txBox="1"/>
          <p:nvPr>
            <p:ph idx="1" type="body"/>
          </p:nvPr>
        </p:nvSpPr>
        <p:spPr>
          <a:xfrm>
            <a:off x="366350" y="1231650"/>
            <a:ext cx="4422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-"/>
            </a:pPr>
            <a:r>
              <a:rPr lang="en" sz="1000">
                <a:solidFill>
                  <a:srgbClr val="000000"/>
                </a:solidFill>
              </a:rPr>
              <a:t>Le dataset Mip-NeRF 360 comprend plusieurs scènes capturées à 360° en environnements intérieurs et extérieurs, telle que :</a:t>
            </a:r>
            <a:endParaRPr sz="1000">
              <a:solidFill>
                <a:srgbClr val="000000"/>
              </a:solidFill>
            </a:endParaRPr>
          </a:p>
          <a:p>
            <a:pPr indent="-292100" lvl="0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</a:pPr>
            <a:r>
              <a:rPr lang="en" sz="1000">
                <a:solidFill>
                  <a:srgbClr val="000000"/>
                </a:solidFill>
              </a:rPr>
              <a:t>bicycle</a:t>
            </a:r>
            <a:endParaRPr sz="1000">
              <a:solidFill>
                <a:srgbClr val="000000"/>
              </a:solidFill>
            </a:endParaRPr>
          </a:p>
          <a:p>
            <a:pPr indent="-292100" lvl="0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</a:pPr>
            <a:r>
              <a:rPr lang="en" sz="1000">
                <a:solidFill>
                  <a:srgbClr val="000000"/>
                </a:solidFill>
              </a:rPr>
              <a:t>bonsai</a:t>
            </a:r>
            <a:endParaRPr sz="1000">
              <a:solidFill>
                <a:srgbClr val="000000"/>
              </a:solidFill>
            </a:endParaRPr>
          </a:p>
          <a:p>
            <a:pPr indent="-292100" lvl="0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</a:pPr>
            <a:r>
              <a:rPr lang="en" sz="1000">
                <a:solidFill>
                  <a:srgbClr val="000000"/>
                </a:solidFill>
              </a:rPr>
              <a:t>counter</a:t>
            </a:r>
            <a:endParaRPr sz="1000">
              <a:solidFill>
                <a:srgbClr val="000000"/>
              </a:solidFill>
            </a:endParaRPr>
          </a:p>
          <a:p>
            <a:pPr indent="-292100" lvl="0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</a:pPr>
            <a:r>
              <a:rPr lang="en" sz="1000">
                <a:solidFill>
                  <a:srgbClr val="000000"/>
                </a:solidFill>
              </a:rPr>
              <a:t>garden</a:t>
            </a:r>
            <a:endParaRPr sz="1000">
              <a:solidFill>
                <a:srgbClr val="000000"/>
              </a:solidFill>
            </a:endParaRPr>
          </a:p>
          <a:p>
            <a:pPr indent="-292100" lvl="0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</a:pPr>
            <a:r>
              <a:rPr lang="en" sz="1000">
                <a:solidFill>
                  <a:srgbClr val="000000"/>
                </a:solidFill>
              </a:rPr>
              <a:t>kitchen</a:t>
            </a:r>
            <a:endParaRPr sz="1000">
              <a:solidFill>
                <a:srgbClr val="000000"/>
              </a:solidFill>
            </a:endParaRPr>
          </a:p>
          <a:p>
            <a:pPr indent="-292100" lvl="0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</a:pPr>
            <a:r>
              <a:rPr b="1" lang="en" sz="1000">
                <a:solidFill>
                  <a:srgbClr val="000000"/>
                </a:solidFill>
                <a:highlight>
                  <a:srgbClr val="FFFF00"/>
                </a:highlight>
              </a:rPr>
              <a:t>room</a:t>
            </a:r>
            <a:endParaRPr b="1" sz="100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indent="-292100" lvl="0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</a:pPr>
            <a:r>
              <a:rPr lang="en" sz="1000">
                <a:solidFill>
                  <a:srgbClr val="000000"/>
                </a:solidFill>
              </a:rPr>
              <a:t>Stump</a:t>
            </a:r>
            <a:endParaRPr sz="1000">
              <a:solidFill>
                <a:srgbClr val="000000"/>
              </a:solidFill>
            </a:endParaRPr>
          </a:p>
          <a:p>
            <a:pPr indent="-292100" lvl="0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</a:pPr>
            <a:r>
              <a:rPr lang="en" sz="1000">
                <a:solidFill>
                  <a:srgbClr val="000000"/>
                </a:solidFill>
              </a:rPr>
              <a:t>…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      Chaque scène est accompagnée de :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Char char="-"/>
            </a:pPr>
            <a:r>
              <a:rPr lang="en" sz="1000">
                <a:solidFill>
                  <a:srgbClr val="000000"/>
                </a:solidFill>
              </a:rPr>
              <a:t>311 images capturées disponibles sous plusieurs facteurs de sous-échantillonnage : images, images_2, images_4 et images_8.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-"/>
            </a:pPr>
            <a:r>
              <a:rPr lang="en" sz="1000">
                <a:solidFill>
                  <a:srgbClr val="000000"/>
                </a:solidFill>
              </a:rPr>
              <a:t>Les poses de caméra reconstruites par COLMAP (fichiers cameras.bin, images.bin, points3D.bin)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-"/>
            </a:pPr>
            <a:r>
              <a:rPr lang="en" sz="1000">
                <a:solidFill>
                  <a:srgbClr val="000000"/>
                </a:solidFill>
              </a:rPr>
              <a:t>Un nuage de points 3D épars issu de la reconstruction SfM</a:t>
            </a:r>
            <a:endParaRPr sz="1300"/>
          </a:p>
        </p:txBody>
      </p:sp>
      <p:sp>
        <p:nvSpPr>
          <p:cNvPr id="159" name="Google Shape;159;p19"/>
          <p:cNvSpPr txBox="1"/>
          <p:nvPr/>
        </p:nvSpPr>
        <p:spPr>
          <a:xfrm>
            <a:off x="417150" y="695675"/>
            <a:ext cx="37131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Dataset: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0" name="Google Shape;160;p19" title="Capture d’écran 2026-09-13 à 18.24.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6799" y="1299863"/>
            <a:ext cx="4050250" cy="199424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6041174" y="3210663"/>
            <a:ext cx="26091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AA84F"/>
                </a:solidFill>
                <a:latin typeface="Open Sans"/>
                <a:ea typeface="Open Sans"/>
                <a:cs typeface="Open Sans"/>
                <a:sym typeface="Open Sans"/>
              </a:rPr>
              <a:t>Figure 1: </a:t>
            </a:r>
            <a:r>
              <a:rPr lang="en" sz="600">
                <a:latin typeface="Open Sans"/>
                <a:ea typeface="Open Sans"/>
                <a:cs typeface="Open Sans"/>
                <a:sym typeface="Open Sans"/>
              </a:rPr>
              <a:t>Exemple d’images du Dataset</a:t>
            </a:r>
            <a:endParaRPr sz="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" name="Google Shape;16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8" name="Google Shape;168;p20"/>
          <p:cNvSpPr txBox="1"/>
          <p:nvPr>
            <p:ph type="title"/>
          </p:nvPr>
        </p:nvSpPr>
        <p:spPr>
          <a:xfrm>
            <a:off x="286950" y="93525"/>
            <a:ext cx="41850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Reconstruction de la scène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Avec 3DGS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236575" y="12861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Résultats visuels: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0" name="Google Shape;17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4339" y="0"/>
            <a:ext cx="4342825" cy="282452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127650" y="1747800"/>
            <a:ext cx="33738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Pipeline suivi :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311 images (images_4/) + poses COLMAP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Conversion COLMAP → transforms.json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Entraînement Splatfacto :30 000 itérations sur Toubkal / Kaggle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Export → fichier .ply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Visualisation via Supersplat¹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  </a:t>
            </a:r>
            <a:endParaRPr sz="1000"/>
          </a:p>
        </p:txBody>
      </p:sp>
      <p:sp>
        <p:nvSpPr>
          <p:cNvPr id="172" name="Google Shape;172;p20"/>
          <p:cNvSpPr txBox="1"/>
          <p:nvPr/>
        </p:nvSpPr>
        <p:spPr>
          <a:xfrm>
            <a:off x="5981550" y="2774525"/>
            <a:ext cx="26091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AA84F"/>
                </a:solidFill>
                <a:latin typeface="Open Sans"/>
                <a:ea typeface="Open Sans"/>
                <a:cs typeface="Open Sans"/>
                <a:sym typeface="Open Sans"/>
              </a:rPr>
              <a:t>Figure 2: </a:t>
            </a:r>
            <a:r>
              <a:rPr lang="en" sz="600">
                <a:latin typeface="Open Sans"/>
                <a:ea typeface="Open Sans"/>
                <a:cs typeface="Open Sans"/>
                <a:sym typeface="Open Sans"/>
              </a:rPr>
              <a:t> Visualisation de la scène 3D construite</a:t>
            </a:r>
            <a:endParaRPr sz="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382500" y="4641400"/>
            <a:ext cx="46338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AutoNum type="arabicPeriod"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https://playcanvas.com/supersplat/editor/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0525" y="3041825"/>
            <a:ext cx="4936648" cy="162949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5317075" y="4612500"/>
            <a:ext cx="26091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AA84F"/>
                </a:solidFill>
                <a:latin typeface="Open Sans"/>
                <a:ea typeface="Open Sans"/>
                <a:cs typeface="Open Sans"/>
                <a:sym typeface="Open Sans"/>
              </a:rPr>
              <a:t>Figure 3: </a:t>
            </a:r>
            <a:r>
              <a:rPr lang="en" sz="600">
                <a:latin typeface="Open Sans"/>
                <a:ea typeface="Open Sans"/>
                <a:cs typeface="Open Sans"/>
                <a:sym typeface="Open Sans"/>
              </a:rPr>
              <a:t>Comparaison entre les images réelles et les rendues s</a:t>
            </a:r>
            <a:endParaRPr sz="6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1" title="Capture d’écran 2026-04-20 à 15.41.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0450" y="264500"/>
            <a:ext cx="6631552" cy="1793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1" title="Capture d’écran 2026-04-20 à 15.41.3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986400"/>
            <a:ext cx="6583972" cy="179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359979" y="3903631"/>
            <a:ext cx="8832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PSNR =  31.49 dB    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Le modèle reconstruit les surfaces de manière lisse, agissant ainsi comme un filtre de restauration.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1" title="Capture d’écran 2026-04-20 à 15.47.1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4099" y="2749100"/>
            <a:ext cx="1834425" cy="751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4" name="Google Shape;18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256375" y="6870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Résultats visuels: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1940700" y="3643750"/>
            <a:ext cx="387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AA84F"/>
                </a:solidFill>
                <a:latin typeface="Open Sans"/>
                <a:ea typeface="Open Sans"/>
                <a:cs typeface="Open Sans"/>
                <a:sym typeface="Open Sans"/>
              </a:rPr>
              <a:t>Figure 4: </a:t>
            </a:r>
            <a:r>
              <a:rPr lang="en" sz="600">
                <a:latin typeface="Open Sans"/>
                <a:ea typeface="Open Sans"/>
                <a:cs typeface="Open Sans"/>
                <a:sym typeface="Open Sans"/>
              </a:rPr>
              <a:t>Comparaison entre les images réelles , les rendus 3DGS et les cartes de différence pixel à pixel</a:t>
            </a:r>
            <a:endParaRPr sz="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>
            <p:ph idx="1" type="body"/>
          </p:nvPr>
        </p:nvSpPr>
        <p:spPr>
          <a:xfrm>
            <a:off x="311700" y="1068296"/>
            <a:ext cx="40587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Approche Standard:</a:t>
            </a:r>
            <a:endParaRPr b="1" sz="1600"/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</a:pPr>
            <a:r>
              <a:rPr lang="en" sz="1000">
                <a:solidFill>
                  <a:srgbClr val="000000"/>
                </a:solidFill>
                <a:highlight>
                  <a:schemeClr val="dk1"/>
                </a:highlight>
              </a:rPr>
              <a:t>π(</a:t>
            </a:r>
            <a:r>
              <a:rPr lang="en" sz="1000">
                <a:solidFill>
                  <a:srgbClr val="000000"/>
                </a:solidFill>
              </a:rPr>
              <a:t>(s</a:t>
            </a:r>
            <a:r>
              <a:rPr baseline="-25000" lang="en" sz="1000">
                <a:solidFill>
                  <a:srgbClr val="000000"/>
                </a:solidFill>
              </a:rPr>
              <a:t>t </a:t>
            </a:r>
            <a:r>
              <a:rPr lang="en" sz="1000">
                <a:solidFill>
                  <a:srgbClr val="000000"/>
                </a:solidFill>
              </a:rPr>
              <a:t>| u)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</a:pPr>
            <a:r>
              <a:rPr lang="en" sz="1000">
                <a:solidFill>
                  <a:srgbClr val="000000"/>
                </a:solidFill>
              </a:rPr>
              <a:t>L'objectif est "codé en dur" dans les poids u.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</a:pPr>
            <a:r>
              <a:rPr lang="en" sz="1000">
                <a:solidFill>
                  <a:srgbClr val="000000"/>
                </a:solidFill>
              </a:rPr>
              <a:t>Un réseau = Une seule cible. Nécessite un ré-entraînement complet pour chaque nouvel objet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2"/>
          <p:cNvSpPr txBox="1"/>
          <p:nvPr>
            <p:ph idx="1" type="body"/>
          </p:nvPr>
        </p:nvSpPr>
        <p:spPr>
          <a:xfrm>
            <a:off x="4631700" y="1068296"/>
            <a:ext cx="40587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Approche de l'article</a:t>
            </a:r>
            <a:r>
              <a:rPr b="1" lang="en" sz="1600"/>
              <a:t>:</a:t>
            </a:r>
            <a:endParaRPr b="1" sz="1600"/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</a:pPr>
            <a:r>
              <a:rPr lang="en" sz="1000">
                <a:solidFill>
                  <a:srgbClr val="000000"/>
                </a:solidFill>
                <a:highlight>
                  <a:schemeClr val="dk1"/>
                </a:highlight>
              </a:rPr>
              <a:t>π(</a:t>
            </a:r>
            <a:r>
              <a:rPr lang="en" sz="1000">
                <a:solidFill>
                  <a:srgbClr val="000000"/>
                </a:solidFill>
              </a:rPr>
              <a:t>(s</a:t>
            </a:r>
            <a:r>
              <a:rPr baseline="-25000" lang="en" sz="1000">
                <a:solidFill>
                  <a:srgbClr val="000000"/>
                </a:solidFill>
              </a:rPr>
              <a:t>t </a:t>
            </a:r>
            <a:r>
              <a:rPr lang="en" sz="1000">
                <a:solidFill>
                  <a:srgbClr val="000000"/>
                </a:solidFill>
              </a:rPr>
              <a:t>, g </a:t>
            </a:r>
            <a:r>
              <a:rPr lang="en" sz="1000">
                <a:solidFill>
                  <a:srgbClr val="000000"/>
                </a:solidFill>
              </a:rPr>
              <a:t>| </a:t>
            </a:r>
            <a:r>
              <a:rPr lang="en" sz="1000">
                <a:solidFill>
                  <a:srgbClr val="000000"/>
                </a:solidFill>
              </a:rPr>
              <a:t>u)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000000"/>
                </a:solidFill>
              </a:rPr>
              <a:t>La cible g devient une </a:t>
            </a:r>
            <a:r>
              <a:rPr b="1" lang="en" sz="1000">
                <a:solidFill>
                  <a:srgbClr val="000000"/>
                </a:solidFill>
              </a:rPr>
              <a:t>entrée explicite</a:t>
            </a:r>
            <a:r>
              <a:rPr lang="en" sz="1000">
                <a:solidFill>
                  <a:srgbClr val="000000"/>
                </a:solidFill>
              </a:rPr>
              <a:t> du réseau.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1770475" y="2966996"/>
            <a:ext cx="1263900" cy="536100"/>
          </a:xfrm>
          <a:prstGeom prst="rect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Réseau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94" name="Google Shape;194;p22"/>
          <p:cNvCxnSpPr/>
          <p:nvPr/>
        </p:nvCxnSpPr>
        <p:spPr>
          <a:xfrm flipH="1">
            <a:off x="1122600" y="3262971"/>
            <a:ext cx="6639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95" name="Google Shape;195;p22"/>
          <p:cNvCxnSpPr/>
          <p:nvPr/>
        </p:nvCxnSpPr>
        <p:spPr>
          <a:xfrm flipH="1">
            <a:off x="1930425" y="3503096"/>
            <a:ext cx="528000" cy="400200"/>
          </a:xfrm>
          <a:prstGeom prst="bentConnector3">
            <a:avLst>
              <a:gd fmla="val -151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96" name="Google Shape;196;p22"/>
          <p:cNvSpPr txBox="1"/>
          <p:nvPr/>
        </p:nvSpPr>
        <p:spPr>
          <a:xfrm>
            <a:off x="378650" y="2966996"/>
            <a:ext cx="16077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État couran</a:t>
            </a:r>
            <a:r>
              <a:rPr lang="en" sz="1100">
                <a:latin typeface="Open Sans"/>
                <a:ea typeface="Open Sans"/>
                <a:cs typeface="Open Sans"/>
                <a:sym typeface="Open Sans"/>
              </a:rPr>
              <a:t>t </a:t>
            </a:r>
            <a:r>
              <a:rPr b="1" lang="en" sz="1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b="1" baseline="-25000" lang="en" sz="1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="1" baseline="-25000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794525" y="3958896"/>
            <a:ext cx="16719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Cible </a:t>
            </a:r>
            <a:r>
              <a:rPr b="1" lang="en" sz="1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 encodée dans les paramètres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1930425" y="3570646"/>
            <a:ext cx="3039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endParaRPr b="1" sz="1100">
              <a:solidFill>
                <a:srgbClr val="18803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5938500" y="2966996"/>
            <a:ext cx="1263900" cy="536100"/>
          </a:xfrm>
          <a:prstGeom prst="rect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Réseau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4370400" y="2855446"/>
            <a:ext cx="16077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État couran</a:t>
            </a:r>
            <a:r>
              <a:rPr lang="en" sz="1100">
                <a:latin typeface="Open Sans"/>
                <a:ea typeface="Open Sans"/>
                <a:cs typeface="Open Sans"/>
                <a:sym typeface="Open Sans"/>
              </a:rPr>
              <a:t>t </a:t>
            </a:r>
            <a:r>
              <a:rPr b="1" lang="en" sz="1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b="1" baseline="-25000" lang="en" sz="1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="1" baseline="-25000" sz="1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01" name="Google Shape;201;p22"/>
          <p:cNvCxnSpPr/>
          <p:nvPr/>
        </p:nvCxnSpPr>
        <p:spPr>
          <a:xfrm flipH="1">
            <a:off x="5274600" y="3138896"/>
            <a:ext cx="6639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2" name="Google Shape;202;p22"/>
          <p:cNvCxnSpPr/>
          <p:nvPr/>
        </p:nvCxnSpPr>
        <p:spPr>
          <a:xfrm flipH="1">
            <a:off x="5978100" y="3503096"/>
            <a:ext cx="528000" cy="400200"/>
          </a:xfrm>
          <a:prstGeom prst="bentConnector3">
            <a:avLst>
              <a:gd fmla="val -151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03" name="Google Shape;203;p22"/>
          <p:cNvSpPr txBox="1"/>
          <p:nvPr/>
        </p:nvSpPr>
        <p:spPr>
          <a:xfrm>
            <a:off x="6094150" y="3570646"/>
            <a:ext cx="3039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endParaRPr b="1" sz="1100">
              <a:solidFill>
                <a:srgbClr val="18803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04" name="Google Shape;204;p22"/>
          <p:cNvCxnSpPr/>
          <p:nvPr/>
        </p:nvCxnSpPr>
        <p:spPr>
          <a:xfrm flipH="1">
            <a:off x="5291013" y="3371288"/>
            <a:ext cx="6639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05" name="Google Shape;205;p22"/>
          <p:cNvSpPr txBox="1"/>
          <p:nvPr/>
        </p:nvSpPr>
        <p:spPr>
          <a:xfrm>
            <a:off x="4767925" y="3090021"/>
            <a:ext cx="97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Cible </a:t>
            </a:r>
            <a:r>
              <a:rPr b="1" lang="en" sz="1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>
              <a:solidFill>
                <a:srgbClr val="188038"/>
              </a:solidFill>
            </a:endParaRPr>
          </a:p>
        </p:txBody>
      </p:sp>
      <p:sp>
        <p:nvSpPr>
          <p:cNvPr id="206" name="Google Shape;20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7" name="Google Shape;207;p22"/>
          <p:cNvSpPr txBox="1"/>
          <p:nvPr>
            <p:ph type="title"/>
          </p:nvPr>
        </p:nvSpPr>
        <p:spPr>
          <a:xfrm>
            <a:off x="286950" y="93525"/>
            <a:ext cx="87741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Reproduction du pipeline de navigation visuelle </a:t>
            </a:r>
            <a:r>
              <a:rPr lang="en" sz="3267"/>
              <a:t>(AI2-THOR)</a:t>
            </a:r>
            <a:endParaRPr sz="326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/>
          <p:nvPr/>
        </p:nvSpPr>
        <p:spPr>
          <a:xfrm>
            <a:off x="114641" y="1885983"/>
            <a:ext cx="1599900" cy="519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Open Sans"/>
                <a:ea typeface="Open Sans"/>
                <a:cs typeface="Open Sans"/>
                <a:sym typeface="Open Sans"/>
              </a:rPr>
              <a:t>Observation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224*224*3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170636" y="2923462"/>
            <a:ext cx="1503900" cy="519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Open Sans"/>
                <a:ea typeface="Open Sans"/>
                <a:cs typeface="Open Sans"/>
                <a:sym typeface="Open Sans"/>
              </a:rPr>
              <a:t>Goal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224*224*3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3763941" y="2923458"/>
            <a:ext cx="886200" cy="5199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Open Sans"/>
                <a:ea typeface="Open Sans"/>
                <a:cs typeface="Open Sans"/>
                <a:sym typeface="Open Sans"/>
              </a:rPr>
              <a:t>fc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512d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2124241" y="1885983"/>
            <a:ext cx="1230000" cy="5199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Open Sans"/>
                <a:ea typeface="Open Sans"/>
                <a:cs typeface="Open Sans"/>
                <a:sym typeface="Open Sans"/>
              </a:rPr>
              <a:t>ResNet-50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2048d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2124241" y="2923458"/>
            <a:ext cx="1230000" cy="5199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Open Sans"/>
                <a:ea typeface="Open Sans"/>
                <a:cs typeface="Open Sans"/>
                <a:sym typeface="Open Sans"/>
              </a:rPr>
              <a:t>ResNet-50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2048d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3763941" y="1885983"/>
            <a:ext cx="886200" cy="5199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b="1" lang="en" sz="10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512d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2618415" y="2580670"/>
            <a:ext cx="360000" cy="168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W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19" name="Google Shape;219;p23"/>
          <p:cNvCxnSpPr/>
          <p:nvPr/>
        </p:nvCxnSpPr>
        <p:spPr>
          <a:xfrm rot="10800000">
            <a:off x="2794291" y="2405883"/>
            <a:ext cx="8100" cy="24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0" name="Google Shape;220;p23"/>
          <p:cNvCxnSpPr/>
          <p:nvPr/>
        </p:nvCxnSpPr>
        <p:spPr>
          <a:xfrm rot="10800000">
            <a:off x="2794366" y="2747720"/>
            <a:ext cx="8100" cy="24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21" name="Google Shape;221;p23"/>
          <p:cNvSpPr/>
          <p:nvPr/>
        </p:nvSpPr>
        <p:spPr>
          <a:xfrm>
            <a:off x="5194173" y="1685158"/>
            <a:ext cx="1047900" cy="1967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Open Sans"/>
                <a:ea typeface="Open Sans"/>
                <a:cs typeface="Open Sans"/>
                <a:sym typeface="Open Sans"/>
              </a:rPr>
              <a:t>Embedding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Open Sans"/>
                <a:ea typeface="Open Sans"/>
                <a:cs typeface="Open Sans"/>
                <a:sym typeface="Open Sans"/>
              </a:rPr>
              <a:t>Fusion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Open Sans"/>
                <a:ea typeface="Open Sans"/>
                <a:cs typeface="Open Sans"/>
                <a:sym typeface="Open Sans"/>
              </a:rPr>
              <a:t>concat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1024d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→ 512d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2" name="Google Shape;222;p23"/>
          <p:cNvCxnSpPr>
            <a:stCxn id="212" idx="3"/>
            <a:endCxn id="215" idx="1"/>
          </p:cNvCxnSpPr>
          <p:nvPr/>
        </p:nvCxnSpPr>
        <p:spPr>
          <a:xfrm>
            <a:off x="1714541" y="2145933"/>
            <a:ext cx="409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23"/>
          <p:cNvCxnSpPr>
            <a:stCxn id="213" idx="3"/>
            <a:endCxn id="216" idx="1"/>
          </p:cNvCxnSpPr>
          <p:nvPr/>
        </p:nvCxnSpPr>
        <p:spPr>
          <a:xfrm>
            <a:off x="1674536" y="3183412"/>
            <a:ext cx="44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23"/>
          <p:cNvCxnSpPr>
            <a:stCxn id="215" idx="3"/>
            <a:endCxn id="217" idx="1"/>
          </p:cNvCxnSpPr>
          <p:nvPr/>
        </p:nvCxnSpPr>
        <p:spPr>
          <a:xfrm>
            <a:off x="3354241" y="2145933"/>
            <a:ext cx="409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23"/>
          <p:cNvCxnSpPr>
            <a:stCxn id="216" idx="3"/>
            <a:endCxn id="214" idx="1"/>
          </p:cNvCxnSpPr>
          <p:nvPr/>
        </p:nvCxnSpPr>
        <p:spPr>
          <a:xfrm>
            <a:off x="3354241" y="3183408"/>
            <a:ext cx="409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23"/>
          <p:cNvCxnSpPr>
            <a:stCxn id="217" idx="3"/>
            <a:endCxn id="221" idx="1"/>
          </p:cNvCxnSpPr>
          <p:nvPr/>
        </p:nvCxnSpPr>
        <p:spPr>
          <a:xfrm>
            <a:off x="4650141" y="2145933"/>
            <a:ext cx="543900" cy="52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7" name="Google Shape;227;p23"/>
          <p:cNvCxnSpPr>
            <a:stCxn id="214" idx="3"/>
            <a:endCxn id="221" idx="1"/>
          </p:cNvCxnSpPr>
          <p:nvPr/>
        </p:nvCxnSpPr>
        <p:spPr>
          <a:xfrm flipH="1" rot="10800000">
            <a:off x="4650141" y="2668908"/>
            <a:ext cx="543900" cy="51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8" name="Google Shape;228;p23"/>
          <p:cNvSpPr/>
          <p:nvPr/>
        </p:nvSpPr>
        <p:spPr>
          <a:xfrm>
            <a:off x="6546025" y="2317116"/>
            <a:ext cx="886200" cy="7074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Open Sans"/>
                <a:ea typeface="Open Sans"/>
                <a:cs typeface="Open Sans"/>
                <a:sym typeface="Open Sans"/>
              </a:rPr>
              <a:t>Scene-Specific Layers 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7650319" y="2317116"/>
            <a:ext cx="1119600" cy="707400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Open Sans"/>
                <a:ea typeface="Open Sans"/>
                <a:cs typeface="Open Sans"/>
                <a:sym typeface="Open Sans"/>
              </a:rPr>
              <a:t>Actor-Critic 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30" name="Google Shape;230;p23"/>
          <p:cNvCxnSpPr>
            <a:stCxn id="221" idx="3"/>
            <a:endCxn id="228" idx="1"/>
          </p:cNvCxnSpPr>
          <p:nvPr/>
        </p:nvCxnSpPr>
        <p:spPr>
          <a:xfrm>
            <a:off x="6242073" y="2669008"/>
            <a:ext cx="3039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23"/>
          <p:cNvCxnSpPr>
            <a:endCxn id="229" idx="1"/>
          </p:cNvCxnSpPr>
          <p:nvPr/>
        </p:nvCxnSpPr>
        <p:spPr>
          <a:xfrm>
            <a:off x="7432219" y="2669916"/>
            <a:ext cx="2181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23"/>
          <p:cNvSpPr txBox="1"/>
          <p:nvPr/>
        </p:nvSpPr>
        <p:spPr>
          <a:xfrm>
            <a:off x="367600" y="940900"/>
            <a:ext cx="40548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Architecture du réseau: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642600" y="3892950"/>
            <a:ext cx="66312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●"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a = π(s</a:t>
            </a:r>
            <a:r>
              <a:rPr baseline="-25000" lang="en" sz="1000">
                <a:latin typeface="Open Sans"/>
                <a:ea typeface="Open Sans"/>
                <a:cs typeface="Open Sans"/>
                <a:sym typeface="Open Sans"/>
              </a:rPr>
              <a:t>t </a:t>
            </a: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, g | u)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●"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Le ResNet-50 a déjà été pré-entraîné sur ImageNet =&gt; ResNet est gelé 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4" name="Google Shape;2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3"/>
          <p:cNvSpPr txBox="1"/>
          <p:nvPr>
            <p:ph type="title"/>
          </p:nvPr>
        </p:nvSpPr>
        <p:spPr>
          <a:xfrm>
            <a:off x="286950" y="93525"/>
            <a:ext cx="87741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Reproduction du pipeline de navigation visuelle </a:t>
            </a:r>
            <a:r>
              <a:rPr lang="en" sz="3267"/>
              <a:t>(AI2-THOR)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"/>
          <p:cNvSpPr txBox="1"/>
          <p:nvPr/>
        </p:nvSpPr>
        <p:spPr>
          <a:xfrm>
            <a:off x="337875" y="708550"/>
            <a:ext cx="4723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Détection de la cible et entraînement: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1" name="Google Shape;24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24"/>
          <p:cNvSpPr txBox="1"/>
          <p:nvPr>
            <p:ph type="title"/>
          </p:nvPr>
        </p:nvSpPr>
        <p:spPr>
          <a:xfrm>
            <a:off x="286950" y="93525"/>
            <a:ext cx="87741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Reproduction du pipeline de navigation visuelle </a:t>
            </a:r>
            <a:r>
              <a:rPr lang="en" sz="3267"/>
              <a:t>(AI2-THOR)</a:t>
            </a:r>
            <a:endParaRPr/>
          </a:p>
        </p:txBody>
      </p:sp>
      <p:pic>
        <p:nvPicPr>
          <p:cNvPr id="243" name="Google Shape;2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2050" y="800925"/>
            <a:ext cx="3492627" cy="321007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4"/>
          <p:cNvSpPr txBox="1"/>
          <p:nvPr/>
        </p:nvSpPr>
        <p:spPr>
          <a:xfrm>
            <a:off x="431425" y="1236125"/>
            <a:ext cx="40452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-"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La navigation est discrète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-"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L’agent dispose de 4 actions : MoveForward, RotateRight, RotateLeft et MoveBackward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-"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L’épisode est considéré comme réussi uniquement lorsque l’agent atteint exactement la position de la cible (terminal_state_id)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-"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La fonction de récompense est définie comme suit :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5341850" y="4173475"/>
            <a:ext cx="33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AA84F"/>
                </a:solidFill>
                <a:latin typeface="Open Sans"/>
                <a:ea typeface="Open Sans"/>
                <a:cs typeface="Open Sans"/>
                <a:sym typeface="Open Sans"/>
              </a:rPr>
              <a:t>Figure 5: </a:t>
            </a:r>
            <a:r>
              <a:rPr lang="en" sz="600">
                <a:latin typeface="Open Sans"/>
                <a:ea typeface="Open Sans"/>
                <a:cs typeface="Open Sans"/>
                <a:sym typeface="Open Sans"/>
              </a:rPr>
              <a:t>Exemple de graphe de navigation AI2-THOR original (data/bathroom_02.h5) — 45 nœuds, yaw = 0°.</a:t>
            </a:r>
            <a:endParaRPr sz="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6" name="Google Shape;246;p24" title="Capture d’écran 2026-09-13 à 20.16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5250" y="2958850"/>
            <a:ext cx="2848450" cy="61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5" title="Capture d’écran 2026-09-04 à 02.58.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0033" y="1673964"/>
            <a:ext cx="4824474" cy="196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25"/>
          <p:cNvSpPr txBox="1"/>
          <p:nvPr>
            <p:ph type="title"/>
          </p:nvPr>
        </p:nvSpPr>
        <p:spPr>
          <a:xfrm>
            <a:off x="286950" y="93525"/>
            <a:ext cx="87741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Reproduction du pipeline de navigation visuelle </a:t>
            </a:r>
            <a:r>
              <a:rPr lang="en" sz="3267"/>
              <a:t>(AI2-THOR)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286950" y="708550"/>
            <a:ext cx="4723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Résultats et comparaison: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55" name="Google Shape;255;p25"/>
          <p:cNvGraphicFramePr/>
          <p:nvPr/>
        </p:nvGraphicFramePr>
        <p:xfrm>
          <a:off x="341408" y="1485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{C756717F-2048-4CC8-AFD0-D40D0D069EFA}</a:tableStyleId>
              </a:tblPr>
              <a:tblGrid>
                <a:gridCol w="2501350"/>
                <a:gridCol w="1217725"/>
              </a:tblGrid>
              <a:tr h="329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Scène</a:t>
                      </a:r>
                      <a:endParaRPr i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Longueur moyenne (pas)</a:t>
                      </a:r>
                      <a:endParaRPr i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09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bathroom_02</a:t>
                      </a: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7.8</a:t>
                      </a: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309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bedroom_04</a:t>
                      </a: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15.1</a:t>
                      </a: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309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living_room_08</a:t>
                      </a: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16.7</a:t>
                      </a: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309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kitchen_02 </a:t>
                      </a: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21.6</a:t>
                      </a: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309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Moyenne (notre ré-implémentation)</a:t>
                      </a: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15.3</a:t>
                      </a:r>
                      <a:endParaRPr b="1"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0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Moyenne article</a:t>
                      </a: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210.7</a:t>
                      </a:r>
                      <a:endParaRPr b="1"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sp>
        <p:nvSpPr>
          <p:cNvPr id="256" name="Google Shape;256;p25"/>
          <p:cNvSpPr txBox="1"/>
          <p:nvPr/>
        </p:nvSpPr>
        <p:spPr>
          <a:xfrm>
            <a:off x="4970558" y="3582164"/>
            <a:ext cx="336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AA84F"/>
                </a:solidFill>
                <a:latin typeface="Open Sans"/>
                <a:ea typeface="Open Sans"/>
                <a:cs typeface="Open Sans"/>
                <a:sym typeface="Open Sans"/>
              </a:rPr>
              <a:t>Figure 6: </a:t>
            </a:r>
            <a:r>
              <a:rPr lang="en" sz="600">
                <a:latin typeface="Open Sans"/>
                <a:ea typeface="Open Sans"/>
                <a:cs typeface="Open Sans"/>
                <a:sym typeface="Open Sans"/>
              </a:rPr>
              <a:t>Exemple de navigation de l’agent A3C sur la scène bathroom_02 (cible 26)</a:t>
            </a:r>
            <a:endParaRPr sz="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7" name="Google Shape;257;p25"/>
          <p:cNvSpPr txBox="1"/>
          <p:nvPr/>
        </p:nvSpPr>
        <p:spPr>
          <a:xfrm>
            <a:off x="352800" y="4354275"/>
            <a:ext cx="48468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-"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La borne théorique du plus court chemin </a:t>
            </a:r>
            <a:r>
              <a:rPr b="1" lang="en" sz="1000">
                <a:latin typeface="Open Sans"/>
                <a:ea typeface="Open Sans"/>
                <a:cs typeface="Open Sans"/>
                <a:sym typeface="Open Sans"/>
              </a:rPr>
              <a:t>17.6 pas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26"/>
          <p:cNvSpPr txBox="1"/>
          <p:nvPr>
            <p:ph type="title"/>
          </p:nvPr>
        </p:nvSpPr>
        <p:spPr>
          <a:xfrm>
            <a:off x="286950" y="93525"/>
            <a:ext cx="87741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Construction du graphe 3DGS et entraînement sur room</a:t>
            </a:r>
            <a:endParaRPr/>
          </a:p>
        </p:txBody>
      </p:sp>
      <p:sp>
        <p:nvSpPr>
          <p:cNvPr id="264" name="Google Shape;264;p26"/>
          <p:cNvSpPr txBox="1"/>
          <p:nvPr/>
        </p:nvSpPr>
        <p:spPr>
          <a:xfrm>
            <a:off x="286950" y="708550"/>
            <a:ext cx="4723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Extraction des poses COLMAP: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5" name="Google Shape;265;p26"/>
          <p:cNvSpPr txBox="1"/>
          <p:nvPr/>
        </p:nvSpPr>
        <p:spPr>
          <a:xfrm>
            <a:off x="286950" y="1232725"/>
            <a:ext cx="3338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-"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es 311 poses de caméra sont lues depuis les fichiers binaires COLMAP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-"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ne grille uniforme de pas ∆ = 1 m est générée à l’intérieur de l’enveloppe convexe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66" name="Google Shape;26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4200" y="734668"/>
            <a:ext cx="4073048" cy="1956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300" y="2943300"/>
            <a:ext cx="3376900" cy="1661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6"/>
          <p:cNvSpPr txBox="1"/>
          <p:nvPr/>
        </p:nvSpPr>
        <p:spPr>
          <a:xfrm>
            <a:off x="4970558" y="2571739"/>
            <a:ext cx="336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AA84F"/>
                </a:solidFill>
                <a:latin typeface="Open Sans"/>
                <a:ea typeface="Open Sans"/>
                <a:cs typeface="Open Sans"/>
                <a:sym typeface="Open Sans"/>
              </a:rPr>
              <a:t>Figure 7: </a:t>
            </a:r>
            <a:r>
              <a:rPr lang="en" sz="600">
                <a:latin typeface="Open Sans"/>
                <a:ea typeface="Open Sans"/>
                <a:cs typeface="Open Sans"/>
                <a:sym typeface="Open Sans"/>
              </a:rPr>
              <a:t>Disposition des poses caméra dans le scène room</a:t>
            </a:r>
            <a:endParaRPr sz="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9" name="Google Shape;269;p26"/>
          <p:cNvSpPr txBox="1"/>
          <p:nvPr/>
        </p:nvSpPr>
        <p:spPr>
          <a:xfrm>
            <a:off x="5073450" y="4457375"/>
            <a:ext cx="328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AA84F"/>
                </a:solidFill>
                <a:latin typeface="Open Sans"/>
                <a:ea typeface="Open Sans"/>
                <a:cs typeface="Open Sans"/>
                <a:sym typeface="Open Sans"/>
              </a:rPr>
              <a:t>Figure 8: </a:t>
            </a:r>
            <a:r>
              <a:rPr lang="en" sz="600">
                <a:latin typeface="Open Sans"/>
                <a:ea typeface="Open Sans"/>
                <a:cs typeface="Open Sans"/>
                <a:sym typeface="Open Sans"/>
              </a:rPr>
              <a:t> Enveloppe convexe des poses COLMAP et grille de navigation</a:t>
            </a:r>
            <a:endParaRPr sz="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0" name="Google Shape;270;p26"/>
          <p:cNvSpPr txBox="1"/>
          <p:nvPr/>
        </p:nvSpPr>
        <p:spPr>
          <a:xfrm>
            <a:off x="286950" y="2340925"/>
            <a:ext cx="4723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Rendu des vues synthétiques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71" name="Google Shape;27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6200" y="2943300"/>
            <a:ext cx="4657101" cy="9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 txBox="1"/>
          <p:nvPr/>
        </p:nvSpPr>
        <p:spPr>
          <a:xfrm>
            <a:off x="658600" y="3840575"/>
            <a:ext cx="362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AA84F"/>
                </a:solidFill>
                <a:latin typeface="Open Sans"/>
                <a:ea typeface="Open Sans"/>
                <a:cs typeface="Open Sans"/>
                <a:sym typeface="Open Sans"/>
              </a:rPr>
              <a:t>Figure 9: </a:t>
            </a:r>
            <a:r>
              <a:rPr lang="en" sz="6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600">
                <a:latin typeface="Open Sans"/>
                <a:ea typeface="Open Sans"/>
                <a:cs typeface="Open Sans"/>
                <a:sym typeface="Open Sans"/>
              </a:rPr>
              <a:t>Vues synthétisées par le renderer 3DGS pour les quatre orientations cardinales </a:t>
            </a:r>
            <a:endParaRPr sz="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Open Sans"/>
                <a:ea typeface="Open Sans"/>
                <a:cs typeface="Open Sans"/>
                <a:sym typeface="Open Sans"/>
              </a:rPr>
              <a:t>(yaw = 0°, 90°, 180°,270°)</a:t>
            </a:r>
            <a:endParaRPr sz="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286950" y="93525"/>
            <a:ext cx="87741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Construction du graphe 3DGS et entraînement sur room</a:t>
            </a:r>
            <a:endParaRPr/>
          </a:p>
        </p:txBody>
      </p:sp>
      <p:sp>
        <p:nvSpPr>
          <p:cNvPr id="279" name="Google Shape;279;p27"/>
          <p:cNvSpPr txBox="1"/>
          <p:nvPr/>
        </p:nvSpPr>
        <p:spPr>
          <a:xfrm>
            <a:off x="286950" y="708550"/>
            <a:ext cx="4723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Génération du fichier HDF5: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0" name="Google Shape;280;p27"/>
          <p:cNvSpPr txBox="1"/>
          <p:nvPr/>
        </p:nvSpPr>
        <p:spPr>
          <a:xfrm>
            <a:off x="172950" y="1620075"/>
            <a:ext cx="29826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-"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e graphe de navigation, les features ResNet-50, les distances du plus court chemin (shortest path distance) et les métadonnées sont sauvegardés dans un fichier </a:t>
            </a:r>
            <a:r>
              <a:rPr b="1" lang="en" sz="1000">
                <a:latin typeface="Open Sans"/>
                <a:ea typeface="Open Sans"/>
                <a:cs typeface="Open Sans"/>
                <a:sym typeface="Open Sans"/>
              </a:rPr>
              <a:t>scene_3dgs.h5</a:t>
            </a: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 compatible avec le framework ICRA 2017.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-"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Pour l’entrainement: 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●"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Cibles : 5 cibles fixes (24, 60, 120, 108, 48)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●"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500 000 itérations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●"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Fonction de récompense : +10 à la cible, −0.1 en collision, −0.01 par pas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81" name="Google Shape;28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2638" y="1160300"/>
            <a:ext cx="2982725" cy="166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2475" y="1160300"/>
            <a:ext cx="2922126" cy="161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6325" y="2937500"/>
            <a:ext cx="3055351" cy="1669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65375" y="2933400"/>
            <a:ext cx="3009825" cy="1727327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7"/>
          <p:cNvSpPr txBox="1"/>
          <p:nvPr/>
        </p:nvSpPr>
        <p:spPr>
          <a:xfrm>
            <a:off x="4167101" y="4764248"/>
            <a:ext cx="362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AA84F"/>
                </a:solidFill>
                <a:latin typeface="Open Sans"/>
                <a:ea typeface="Open Sans"/>
                <a:cs typeface="Open Sans"/>
                <a:sym typeface="Open Sans"/>
              </a:rPr>
              <a:t>Figure 10 </a:t>
            </a:r>
            <a:r>
              <a:rPr lang="en" sz="6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600">
                <a:latin typeface="Open Sans"/>
                <a:ea typeface="Open Sans"/>
                <a:cs typeface="Open Sans"/>
                <a:sym typeface="Open Sans"/>
              </a:rPr>
              <a:t>Graphes de navigation par le render 3DGS  pour les quatre orientations cardinales </a:t>
            </a:r>
            <a:endParaRPr sz="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Open Sans"/>
                <a:ea typeface="Open Sans"/>
                <a:cs typeface="Open Sans"/>
                <a:sym typeface="Open Sans"/>
              </a:rPr>
              <a:t>    (yaw = 0°, 90°, 180°, 270°).</a:t>
            </a:r>
            <a:endParaRPr sz="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6" name="Google Shape;286;p27"/>
          <p:cNvSpPr txBox="1"/>
          <p:nvPr/>
        </p:nvSpPr>
        <p:spPr>
          <a:xfrm>
            <a:off x="4399663" y="2701675"/>
            <a:ext cx="54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Open Sans"/>
                <a:ea typeface="Open Sans"/>
                <a:cs typeface="Open Sans"/>
                <a:sym typeface="Open Sans"/>
              </a:rPr>
              <a:t>yaw = 0°</a:t>
            </a:r>
            <a:endParaRPr/>
          </a:p>
        </p:txBody>
      </p:sp>
      <p:sp>
        <p:nvSpPr>
          <p:cNvPr id="287" name="Google Shape;287;p27"/>
          <p:cNvSpPr txBox="1"/>
          <p:nvPr/>
        </p:nvSpPr>
        <p:spPr>
          <a:xfrm>
            <a:off x="7507988" y="2688902"/>
            <a:ext cx="54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Open Sans"/>
                <a:ea typeface="Open Sans"/>
                <a:cs typeface="Open Sans"/>
                <a:sym typeface="Open Sans"/>
              </a:rPr>
              <a:t>yaw = 90°</a:t>
            </a:r>
            <a:endParaRPr/>
          </a:p>
        </p:txBody>
      </p:sp>
      <p:sp>
        <p:nvSpPr>
          <p:cNvPr id="288" name="Google Shape;288;p27"/>
          <p:cNvSpPr txBox="1"/>
          <p:nvPr/>
        </p:nvSpPr>
        <p:spPr>
          <a:xfrm>
            <a:off x="4297654" y="4571800"/>
            <a:ext cx="71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Open Sans"/>
                <a:ea typeface="Open Sans"/>
                <a:cs typeface="Open Sans"/>
                <a:sym typeface="Open Sans"/>
              </a:rPr>
              <a:t>yaw = 180°</a:t>
            </a:r>
            <a:endParaRPr/>
          </a:p>
        </p:txBody>
      </p:sp>
      <p:sp>
        <p:nvSpPr>
          <p:cNvPr id="289" name="Google Shape;289;p27"/>
          <p:cNvSpPr txBox="1"/>
          <p:nvPr/>
        </p:nvSpPr>
        <p:spPr>
          <a:xfrm>
            <a:off x="7475379" y="4585875"/>
            <a:ext cx="745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Open Sans"/>
                <a:ea typeface="Open Sans"/>
                <a:cs typeface="Open Sans"/>
                <a:sym typeface="Open Sans"/>
              </a:rPr>
              <a:t>yaw = 270°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5" name="Google Shape;295;p28"/>
          <p:cNvSpPr txBox="1"/>
          <p:nvPr>
            <p:ph type="title"/>
          </p:nvPr>
        </p:nvSpPr>
        <p:spPr>
          <a:xfrm>
            <a:off x="286950" y="93525"/>
            <a:ext cx="87741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Construction du graphe 3DGS et entraînement sur room</a:t>
            </a:r>
            <a:endParaRPr/>
          </a:p>
        </p:txBody>
      </p:sp>
      <p:sp>
        <p:nvSpPr>
          <p:cNvPr id="296" name="Google Shape;296;p28"/>
          <p:cNvSpPr txBox="1"/>
          <p:nvPr/>
        </p:nvSpPr>
        <p:spPr>
          <a:xfrm>
            <a:off x="286950" y="708550"/>
            <a:ext cx="4723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Résultats :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97" name="Google Shape;29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4450" y="1207609"/>
            <a:ext cx="4443049" cy="188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8"/>
          <p:cNvSpPr txBox="1"/>
          <p:nvPr/>
        </p:nvSpPr>
        <p:spPr>
          <a:xfrm>
            <a:off x="4815925" y="2982358"/>
            <a:ext cx="3620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AA84F"/>
                </a:solidFill>
                <a:latin typeface="Open Sans"/>
                <a:ea typeface="Open Sans"/>
                <a:cs typeface="Open Sans"/>
                <a:sym typeface="Open Sans"/>
              </a:rPr>
              <a:t>Figure 11 </a:t>
            </a:r>
            <a:r>
              <a:rPr lang="en" sz="6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600">
                <a:latin typeface="Open Sans"/>
                <a:ea typeface="Open Sans"/>
                <a:cs typeface="Open Sans"/>
                <a:sym typeface="Open Sans"/>
              </a:rPr>
              <a:t>Exemple de navigation de l’agent A3C sur la scène room (cible 24)</a:t>
            </a:r>
            <a:endParaRPr sz="6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99" name="Google Shape;299;p28"/>
          <p:cNvGraphicFramePr/>
          <p:nvPr/>
        </p:nvGraphicFramePr>
        <p:xfrm>
          <a:off x="425750" y="124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{C756717F-2048-4CC8-AFD0-D40D0D069EFA}</a:tableStyleId>
              </a:tblPr>
              <a:tblGrid>
                <a:gridCol w="796775"/>
                <a:gridCol w="931825"/>
                <a:gridCol w="1223950"/>
                <a:gridCol w="865825"/>
              </a:tblGrid>
              <a:tr h="419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/>
                        <a:t>Cible </a:t>
                      </a:r>
                      <a:endParaRPr i="1" sz="12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/>
                        <a:t>Reward moyen </a:t>
                      </a:r>
                      <a:endParaRPr i="1" sz="12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/>
                        <a:t>Longueur moyenne (pas) </a:t>
                      </a:r>
                      <a:endParaRPr i="1" sz="12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/>
                        <a:t>Collisions</a:t>
                      </a:r>
                      <a:endParaRPr i="1" sz="12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28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#24 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9.90 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10.44 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06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#48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9.92 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8.78 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0.06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06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#60 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9.91 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9.17 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4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#108 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9.93 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7.21 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0.06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4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#120 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9.92 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7.86 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4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Moyenne 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9.92 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8.69 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0.06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29"/>
          <p:cNvSpPr txBox="1"/>
          <p:nvPr>
            <p:ph type="title"/>
          </p:nvPr>
        </p:nvSpPr>
        <p:spPr>
          <a:xfrm>
            <a:off x="286950" y="93525"/>
            <a:ext cx="87741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Approche de navigation continue</a:t>
            </a:r>
            <a:endParaRPr/>
          </a:p>
        </p:txBody>
      </p:sp>
      <p:sp>
        <p:nvSpPr>
          <p:cNvPr id="306" name="Google Shape;306;p29"/>
          <p:cNvSpPr txBox="1"/>
          <p:nvPr/>
        </p:nvSpPr>
        <p:spPr>
          <a:xfrm>
            <a:off x="286950" y="708550"/>
            <a:ext cx="4723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Phase 1 : A3C vs PPO (1 rotation)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7" name="Google Shape;307;p29"/>
          <p:cNvSpPr txBox="1"/>
          <p:nvPr/>
        </p:nvSpPr>
        <p:spPr>
          <a:xfrm>
            <a:off x="375000" y="1613025"/>
            <a:ext cx="3262800" cy="22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L’agent reçoit comme entrée un état numérique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regroupant sa position courante, la position cible (X,Y,Z), et l’angle de lacet cou-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rant(YAW) et cible (normalisés).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On remarque que: 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-"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Le PPO converge plus vite et de façon nettement plus fiable que A3C.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-"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A3C est instable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08" name="Google Shape;30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3625" y="1246425"/>
            <a:ext cx="5637426" cy="2084051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 txBox="1"/>
          <p:nvPr/>
        </p:nvSpPr>
        <p:spPr>
          <a:xfrm>
            <a:off x="4652800" y="3279008"/>
            <a:ext cx="3620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AA84F"/>
                </a:solidFill>
                <a:latin typeface="Open Sans"/>
                <a:ea typeface="Open Sans"/>
                <a:cs typeface="Open Sans"/>
                <a:sym typeface="Open Sans"/>
              </a:rPr>
              <a:t>Figure 12 </a:t>
            </a:r>
            <a:r>
              <a:rPr lang="en" sz="6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600">
                <a:latin typeface="Open Sans"/>
                <a:ea typeface="Open Sans"/>
                <a:cs typeface="Open Sans"/>
                <a:sym typeface="Open Sans"/>
              </a:rPr>
              <a:t>Reward par épisode</a:t>
            </a:r>
            <a:endParaRPr sz="6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5" name="Google Shape;315;p30"/>
          <p:cNvSpPr txBox="1"/>
          <p:nvPr>
            <p:ph type="title"/>
          </p:nvPr>
        </p:nvSpPr>
        <p:spPr>
          <a:xfrm>
            <a:off x="286950" y="93525"/>
            <a:ext cx="87741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Approche de navigation continue</a:t>
            </a:r>
            <a:endParaRPr/>
          </a:p>
        </p:txBody>
      </p:sp>
      <p:sp>
        <p:nvSpPr>
          <p:cNvPr id="316" name="Google Shape;316;p30"/>
          <p:cNvSpPr txBox="1"/>
          <p:nvPr/>
        </p:nvSpPr>
        <p:spPr>
          <a:xfrm>
            <a:off x="286950" y="708550"/>
            <a:ext cx="8734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Seconde phase : comparaison A3C / PPO avec orientation complète: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7" name="Google Shape;317;p30"/>
          <p:cNvSpPr txBox="1"/>
          <p:nvPr/>
        </p:nvSpPr>
        <p:spPr>
          <a:xfrm>
            <a:off x="375000" y="1613025"/>
            <a:ext cx="32628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a récompense repose sur un écart combiné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entre l’état courant et l’état cible, qui associe un terme de position et un terme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d’orientation.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8" name="Google Shape;318;p30"/>
          <p:cNvSpPr txBox="1"/>
          <p:nvPr/>
        </p:nvSpPr>
        <p:spPr>
          <a:xfrm>
            <a:off x="4652800" y="3279008"/>
            <a:ext cx="3620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AA84F"/>
                </a:solidFill>
                <a:latin typeface="Open Sans"/>
                <a:ea typeface="Open Sans"/>
                <a:cs typeface="Open Sans"/>
                <a:sym typeface="Open Sans"/>
              </a:rPr>
              <a:t>Figure 13 </a:t>
            </a:r>
            <a:r>
              <a:rPr lang="en" sz="600">
                <a:latin typeface="Open Sans"/>
                <a:ea typeface="Open Sans"/>
                <a:cs typeface="Open Sans"/>
                <a:sym typeface="Open Sans"/>
              </a:rPr>
              <a:t> Reward par épisode</a:t>
            </a:r>
            <a:endParaRPr sz="6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19" name="Google Shape;31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00" y="1260850"/>
            <a:ext cx="5201403" cy="1856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0" title="Capture d’écran 2026-09-13 à 23.17.3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850" y="2444125"/>
            <a:ext cx="1201375" cy="4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0" title="Capture d’écran 2026-09-13 à 23.18.0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61001" y="2444125"/>
            <a:ext cx="1976787" cy="45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0"/>
          <p:cNvSpPr txBox="1"/>
          <p:nvPr/>
        </p:nvSpPr>
        <p:spPr>
          <a:xfrm>
            <a:off x="336825" y="4014550"/>
            <a:ext cx="8194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On remarque que: 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-"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Le</a:t>
            </a: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s deux algorithmes sont devenus beaucoup moins stables qu’avec une seule orientation =&gt; problème dans la façon d’intégrer ces trois rotations dans le signal d’apprentissage.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23" name="Google Shape;323;p30" title="Capture d’écran 2026-09-13 à 23.21.1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1000" y="2939075"/>
            <a:ext cx="2198126" cy="4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0" title="Capture d’écran 2026-09-13 à 23.22.3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74873" y="3522125"/>
            <a:ext cx="175523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0"/>
          <p:cNvSpPr/>
          <p:nvPr/>
        </p:nvSpPr>
        <p:spPr>
          <a:xfrm>
            <a:off x="422350" y="2418200"/>
            <a:ext cx="1201500" cy="454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6" name="Google Shape;326;p30"/>
          <p:cNvSpPr/>
          <p:nvPr/>
        </p:nvSpPr>
        <p:spPr>
          <a:xfrm>
            <a:off x="857250" y="3101400"/>
            <a:ext cx="2427900" cy="321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7" name="Google Shape;327;p30"/>
          <p:cNvSpPr/>
          <p:nvPr/>
        </p:nvSpPr>
        <p:spPr>
          <a:xfrm>
            <a:off x="1251850" y="3522125"/>
            <a:ext cx="1412400" cy="454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31"/>
          <p:cNvSpPr txBox="1"/>
          <p:nvPr>
            <p:ph type="title"/>
          </p:nvPr>
        </p:nvSpPr>
        <p:spPr>
          <a:xfrm>
            <a:off x="286950" y="93525"/>
            <a:ext cx="87741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Approche de navigation continue</a:t>
            </a:r>
            <a:endParaRPr/>
          </a:p>
        </p:txBody>
      </p:sp>
      <p:sp>
        <p:nvSpPr>
          <p:cNvPr id="334" name="Google Shape;334;p31"/>
          <p:cNvSpPr txBox="1"/>
          <p:nvPr/>
        </p:nvSpPr>
        <p:spPr>
          <a:xfrm>
            <a:off x="286950" y="708550"/>
            <a:ext cx="67293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Nouvelle représentation de l’orientation : quaternions 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5" name="Google Shape;335;p31"/>
          <p:cNvSpPr txBox="1"/>
          <p:nvPr/>
        </p:nvSpPr>
        <p:spPr>
          <a:xfrm>
            <a:off x="375000" y="1402550"/>
            <a:ext cx="3262800" cy="27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Représentation par quaternions + erreur relative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90000"/>
                </a:solidFill>
                <a:latin typeface="Open Sans"/>
                <a:ea typeface="Open Sans"/>
                <a:cs typeface="Open Sans"/>
                <a:sym typeface="Open Sans"/>
              </a:rPr>
              <a:t>PPO — 3000 épisodes : </a:t>
            </a:r>
            <a:endParaRPr b="1" sz="1000">
              <a:solidFill>
                <a:srgbClr val="99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- Reward : 0 → 35-38 (quasi monotone, sans effondrement) 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- Distance : 3 m → &lt; 0.5 m (700 premiers épisodes) 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- Seuil succès (0.08 m) atteint à l'épisode ~1300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- Haute précision (0.02 m) stabilisée après épisode 2000 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90000"/>
                </a:solidFill>
                <a:latin typeface="Open Sans"/>
                <a:ea typeface="Open Sans"/>
                <a:cs typeface="Open Sans"/>
                <a:sym typeface="Open Sans"/>
              </a:rPr>
              <a:t>A3C — 3000 épisodes :</a:t>
            </a:r>
            <a:endParaRPr b="1" sz="1000">
              <a:solidFill>
                <a:srgbClr val="99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- Reward : -5 → +4  (variance élevée, pas de stabilisation)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- Distance : 3.1 m → 1.9 m seulement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- Seuils 0.08 m et 0.02 m jamais atteints 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6" name="Google Shape;336;p31"/>
          <p:cNvSpPr txBox="1"/>
          <p:nvPr/>
        </p:nvSpPr>
        <p:spPr>
          <a:xfrm>
            <a:off x="4626500" y="3132167"/>
            <a:ext cx="3620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AA84F"/>
                </a:solidFill>
                <a:latin typeface="Open Sans"/>
                <a:ea typeface="Open Sans"/>
                <a:cs typeface="Open Sans"/>
                <a:sym typeface="Open Sans"/>
              </a:rPr>
              <a:t>Figure 14 </a:t>
            </a:r>
            <a:r>
              <a:rPr lang="en" sz="6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600">
                <a:latin typeface="Open Sans"/>
                <a:ea typeface="Open Sans"/>
                <a:cs typeface="Open Sans"/>
                <a:sym typeface="Open Sans"/>
              </a:rPr>
              <a:t>Reward et erreur par épisode</a:t>
            </a:r>
            <a:endParaRPr sz="6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37" name="Google Shape;33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2975" y="1297659"/>
            <a:ext cx="2903822" cy="1865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0200" y="1328897"/>
            <a:ext cx="2510375" cy="180327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1"/>
          <p:cNvSpPr txBox="1"/>
          <p:nvPr/>
        </p:nvSpPr>
        <p:spPr>
          <a:xfrm>
            <a:off x="375000" y="4211400"/>
            <a:ext cx="4336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→ PPO converge, A3C échoue — même représentation, même tâche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5" name="Google Shape;345;p32"/>
          <p:cNvSpPr txBox="1"/>
          <p:nvPr>
            <p:ph type="title"/>
          </p:nvPr>
        </p:nvSpPr>
        <p:spPr>
          <a:xfrm>
            <a:off x="286950" y="93525"/>
            <a:ext cx="87741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Approche de navigation continue</a:t>
            </a:r>
            <a:endParaRPr/>
          </a:p>
        </p:txBody>
      </p:sp>
      <p:sp>
        <p:nvSpPr>
          <p:cNvPr id="346" name="Google Shape;346;p32"/>
          <p:cNvSpPr txBox="1"/>
          <p:nvPr/>
        </p:nvSpPr>
        <p:spPr>
          <a:xfrm>
            <a:off x="286950" y="708550"/>
            <a:ext cx="8734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Troisième phase : observation par image (espace des caractéristiques)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7" name="Google Shape;347;p32"/>
          <p:cNvSpPr txBox="1"/>
          <p:nvPr/>
        </p:nvSpPr>
        <p:spPr>
          <a:xfrm>
            <a:off x="411850" y="1591975"/>
            <a:ext cx="32628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-"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Remplacer la pose (position et orientation) explicite par les caractéristiques  visuelles des images  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-"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 ResNet-18 pré-entraîné ImageNet, poids gelés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8" name="Google Shape;348;p32"/>
          <p:cNvSpPr txBox="1"/>
          <p:nvPr/>
        </p:nvSpPr>
        <p:spPr>
          <a:xfrm>
            <a:off x="4773850" y="3452933"/>
            <a:ext cx="3620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AA84F"/>
                </a:solidFill>
                <a:latin typeface="Open Sans"/>
                <a:ea typeface="Open Sans"/>
                <a:cs typeface="Open Sans"/>
                <a:sym typeface="Open Sans"/>
              </a:rPr>
              <a:t>Figure 15 </a:t>
            </a:r>
            <a:r>
              <a:rPr lang="en" sz="6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600">
                <a:latin typeface="Open Sans"/>
                <a:ea typeface="Open Sans"/>
                <a:cs typeface="Open Sans"/>
                <a:sym typeface="Open Sans"/>
              </a:rPr>
              <a:t>Reward et erreur par épisode</a:t>
            </a:r>
            <a:endParaRPr sz="6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49" name="Google Shape;34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9075" y="1398550"/>
            <a:ext cx="2666701" cy="2017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6598" y="1311137"/>
            <a:ext cx="3061424" cy="2141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2" title="Capture d’écran 2026-09-13 à 23.57.2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1125" y="2365575"/>
            <a:ext cx="1265300" cy="3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2"/>
          <p:cNvSpPr txBox="1"/>
          <p:nvPr/>
        </p:nvSpPr>
        <p:spPr>
          <a:xfrm>
            <a:off x="411850" y="2614225"/>
            <a:ext cx="2931000" cy="14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-"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Distance  :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  		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-"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Récompense :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53" name="Google Shape;353;p32" title="Capture d’écran 2026-09-14 à 00.01.5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94800" y="2951025"/>
            <a:ext cx="1479850" cy="23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 title="Capture d’écran 2026-09-14 à 00.07.3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99150" y="3454525"/>
            <a:ext cx="2471151" cy="3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1141950" y="3826050"/>
            <a:ext cx="4648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On remarque que pour le: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→  </a:t>
            </a:r>
            <a:r>
              <a:rPr lang="en" sz="1000"/>
              <a:t>PPO  reward stable ~80-110 dès épisode ~500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→  A3C  distance : 13 m → 5-6 m (seuils jamais atteints)</a:t>
            </a:r>
            <a:endParaRPr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3"/>
          <p:cNvSpPr txBox="1"/>
          <p:nvPr>
            <p:ph type="title"/>
          </p:nvPr>
        </p:nvSpPr>
        <p:spPr>
          <a:xfrm>
            <a:off x="1311575" y="1497500"/>
            <a:ext cx="6609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540"/>
              <a:t>Merci pour votre attention</a:t>
            </a:r>
            <a:endParaRPr sz="4540"/>
          </a:p>
        </p:txBody>
      </p:sp>
      <p:sp>
        <p:nvSpPr>
          <p:cNvPr id="361" name="Google Shape;36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2" name="Google Shape;362;p33"/>
          <p:cNvSpPr/>
          <p:nvPr/>
        </p:nvSpPr>
        <p:spPr>
          <a:xfrm>
            <a:off x="1267050" y="2312950"/>
            <a:ext cx="6609900" cy="57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3" name="Google Shape;363;p33"/>
          <p:cNvSpPr txBox="1"/>
          <p:nvPr/>
        </p:nvSpPr>
        <p:spPr>
          <a:xfrm>
            <a:off x="2701000" y="3002350"/>
            <a:ext cx="31260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Questions ?</a:t>
            </a:r>
            <a:endParaRPr b="1" sz="30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Références</a:t>
            </a:r>
            <a:endParaRPr/>
          </a:p>
        </p:txBody>
      </p:sp>
      <p:sp>
        <p:nvSpPr>
          <p:cNvPr id="369" name="Google Shape;36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0" name="Google Shape;370;p34"/>
          <p:cNvSpPr txBox="1"/>
          <p:nvPr/>
        </p:nvSpPr>
        <p:spPr>
          <a:xfrm>
            <a:off x="328050" y="1368975"/>
            <a:ext cx="8352000" cy="3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-"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Yuke Zhu, Roozbeh Mottaghi, Eric Kolve, Joseph J. Lim, Abhinav Gupta,Li Fei-Fei, and Ali Farhadi. Target-driven Visual Navigation in Indoor Scenes using Deep Reinforcement Learning, September 2016. URL : </a:t>
            </a:r>
            <a:r>
              <a:rPr lang="en" sz="1000" u="sng">
                <a:latin typeface="Open Sans"/>
                <a:ea typeface="Open Sans"/>
                <a:cs typeface="Open Sans"/>
                <a:sym typeface="Open Sans"/>
                <a:hlinkClick r:id="rId3"/>
              </a:rPr>
              <a:t>http://arxiv.org/abs/1609.05143</a:t>
            </a: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-"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Jonathan T. Barron, Ben Mildenhall, Dor Verbin, Pratul P. Srinivasan, and Peter Hedman. Mip-nerf 360 : Unbounded anti-aliased neural radiance fields.CVPR, 2022.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-"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Matthew Tancik, Ethan Weber, Evonne Ng, Ruilong Li, Brent Yi, Justin Kerr, Terrance Wang, Alexander Kristoffersen, Jake Austin, Kamyar Salahi, Abhik Appel, David McAllister, and Angjoo Kanazawa. Nerfstudio : A modular framework for neural radiance field development. ACM SIGGRAPH, 2023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-"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Volodymyr Mnih, Adrià Puigdomènech Badia, Mehdi Mirza, Alex Graves, Tim Harley, Timothy P Lillicrap, David Silver, and Koray Kavukcuoglu. Asynchronous Methods for Deep Reinforcement Learning. In Proceedings of The 33rd International Conference on Machine Learning, 2016.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-"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Bernhard Kerbl, Georgios Kopanas, Thomas Leimkuehler, and George Drettakis. 3D Gaussian Splatting for Real-Time Radiance Field Rendering. ACM Transactions on Graphics, 42(4) :1–14, August 2023. ISSN 0730-0301, 15577368. UR</a:t>
            </a: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L </a:t>
            </a:r>
            <a:r>
              <a:rPr lang="en" sz="1000" u="sng">
                <a:latin typeface="Open Sans"/>
                <a:ea typeface="Open Sans"/>
                <a:cs typeface="Open Sans"/>
                <a:sym typeface="Open Sans"/>
                <a:hlinkClick r:id="rId4"/>
              </a:rPr>
              <a:t>https://dl.acm.org/doi/10.1145/3592433</a:t>
            </a: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-"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John Schulman, Filip Wolski, Prafulla Dhariwal, Alec Radford, and Oleg Klimov. Proximal Policy Optimization Algorithms, August 2017. URL http: //</a:t>
            </a:r>
            <a:r>
              <a:rPr lang="en" sz="1000" u="sng">
                <a:latin typeface="Open Sans"/>
                <a:ea typeface="Open Sans"/>
                <a:cs typeface="Open Sans"/>
                <a:sym typeface="Open Sans"/>
                <a:hlinkClick r:id="rId5"/>
              </a:rPr>
              <a:t>arxiv.org/abs/1707.06347</a:t>
            </a: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  arXiv :1707.06347 [</a:t>
            </a:r>
            <a:r>
              <a:rPr lang="en" sz="1000" u="sng">
                <a:latin typeface="Open Sans"/>
                <a:ea typeface="Open Sans"/>
                <a:cs typeface="Open Sans"/>
                <a:sym typeface="Open Sans"/>
                <a:hlinkClick r:id="rId6"/>
              </a:rPr>
              <a:t>cs.LG</a:t>
            </a: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].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